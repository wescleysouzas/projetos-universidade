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rben" charset="1" panose="020F0503020000020004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4005709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Ética no Big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5240685"/>
            <a:ext cx="944552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Análise dos desafios de privacidade, transparência e viés algorítmico na governança de dados.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33026" y="8377158"/>
            <a:ext cx="5926274" cy="88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Dicentes: Wescley Souza, Enzo França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Docente: Vitor Pacheco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21611" y="9725381"/>
            <a:ext cx="9445526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2025.2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575567" y="-16669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879425"/>
            <a:ext cx="5163442" cy="5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Justificativa e Objetivos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2008138"/>
            <a:ext cx="9445526" cy="1651695"/>
            <a:chOff x="0" y="0"/>
            <a:chExt cx="12594035" cy="22022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4082" cy="2202307"/>
            </a:xfrm>
            <a:custGeom>
              <a:avLst/>
              <a:gdLst/>
              <a:ahLst/>
              <a:cxnLst/>
              <a:rect r="r" b="b" t="t" l="l"/>
              <a:pathLst>
                <a:path h="2202307" w="1259408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2472162" y="0"/>
                  </a:lnTo>
                  <a:cubicBezTo>
                    <a:pt x="12539472" y="0"/>
                    <a:pt x="12594082" y="54610"/>
                    <a:pt x="12594082" y="121920"/>
                  </a:cubicBezTo>
                  <a:lnTo>
                    <a:pt x="12594082" y="2080387"/>
                  </a:lnTo>
                  <a:cubicBezTo>
                    <a:pt x="12594082" y="2147697"/>
                    <a:pt x="12539472" y="2202307"/>
                    <a:pt x="12472162" y="2202307"/>
                  </a:cubicBezTo>
                  <a:lnTo>
                    <a:pt x="121920" y="2202307"/>
                  </a:lnTo>
                  <a:cubicBezTo>
                    <a:pt x="54610" y="2202307"/>
                    <a:pt x="0" y="2147697"/>
                    <a:pt x="0" y="2080387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1989088"/>
            <a:ext cx="9445526" cy="76200"/>
            <a:chOff x="0" y="0"/>
            <a:chExt cx="12594035" cy="10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4082" cy="101600"/>
            </a:xfrm>
            <a:custGeom>
              <a:avLst/>
              <a:gdLst/>
              <a:ahLst/>
              <a:cxnLst/>
              <a:rect r="r" b="b" t="t" l="l"/>
              <a:pathLst>
                <a:path h="101600" w="1259408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2543282" y="0"/>
                  </a:lnTo>
                  <a:cubicBezTo>
                    <a:pt x="12571349" y="0"/>
                    <a:pt x="12594082" y="22733"/>
                    <a:pt x="12594082" y="50800"/>
                  </a:cubicBezTo>
                  <a:cubicBezTo>
                    <a:pt x="12594082" y="78867"/>
                    <a:pt x="12571349" y="101600"/>
                    <a:pt x="12543282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4445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438626" y="1731764"/>
            <a:ext cx="552747" cy="552747"/>
            <a:chOff x="0" y="0"/>
            <a:chExt cx="736997" cy="736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6981" cy="736981"/>
            </a:xfrm>
            <a:custGeom>
              <a:avLst/>
              <a:gdLst/>
              <a:ahLst/>
              <a:cxnLst/>
              <a:rect r="r" b="b" t="t" l="l"/>
              <a:pathLst>
                <a:path h="736981" w="736981">
                  <a:moveTo>
                    <a:pt x="0" y="368554"/>
                  </a:moveTo>
                  <a:cubicBezTo>
                    <a:pt x="0" y="164973"/>
                    <a:pt x="164973" y="0"/>
                    <a:pt x="368554" y="0"/>
                  </a:cubicBezTo>
                  <a:cubicBezTo>
                    <a:pt x="572135" y="0"/>
                    <a:pt x="736981" y="164973"/>
                    <a:pt x="736981" y="368554"/>
                  </a:cubicBezTo>
                  <a:cubicBezTo>
                    <a:pt x="736981" y="572135"/>
                    <a:pt x="572008" y="736981"/>
                    <a:pt x="368554" y="736981"/>
                  </a:cubicBezTo>
                  <a:cubicBezTo>
                    <a:pt x="165100" y="736981"/>
                    <a:pt x="0" y="572008"/>
                    <a:pt x="0" y="368554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685542" y="1602113"/>
            <a:ext cx="112554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5536" y="2468761"/>
            <a:ext cx="2303710" cy="2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Impacto do Big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5536" y="2800499"/>
            <a:ext cx="9038928" cy="65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Transformou empresas e governos, gerando valor econômico e social, mas com desafios éticos urgentes.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4120455"/>
            <a:ext cx="9445526" cy="1357015"/>
            <a:chOff x="0" y="0"/>
            <a:chExt cx="12594035" cy="18093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94082" cy="1809369"/>
            </a:xfrm>
            <a:custGeom>
              <a:avLst/>
              <a:gdLst/>
              <a:ahLst/>
              <a:cxnLst/>
              <a:rect r="r" b="b" t="t" l="l"/>
              <a:pathLst>
                <a:path h="1809369" w="1259408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2472162" y="0"/>
                  </a:lnTo>
                  <a:cubicBezTo>
                    <a:pt x="12539472" y="0"/>
                    <a:pt x="12594082" y="54610"/>
                    <a:pt x="12594082" y="121920"/>
                  </a:cubicBezTo>
                  <a:lnTo>
                    <a:pt x="12594082" y="1687449"/>
                  </a:lnTo>
                  <a:cubicBezTo>
                    <a:pt x="12594082" y="1754759"/>
                    <a:pt x="12539472" y="1809369"/>
                    <a:pt x="12472162" y="1809369"/>
                  </a:cubicBezTo>
                  <a:lnTo>
                    <a:pt x="121920" y="1809369"/>
                  </a:lnTo>
                  <a:cubicBezTo>
                    <a:pt x="54610" y="1809369"/>
                    <a:pt x="0" y="1754759"/>
                    <a:pt x="0" y="1687449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2238" y="4101405"/>
            <a:ext cx="9445526" cy="76200"/>
            <a:chOff x="0" y="0"/>
            <a:chExt cx="12594035" cy="10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4082" cy="101600"/>
            </a:xfrm>
            <a:custGeom>
              <a:avLst/>
              <a:gdLst/>
              <a:ahLst/>
              <a:cxnLst/>
              <a:rect r="r" b="b" t="t" l="l"/>
              <a:pathLst>
                <a:path h="101600" w="1259408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2543282" y="0"/>
                  </a:lnTo>
                  <a:cubicBezTo>
                    <a:pt x="12571349" y="0"/>
                    <a:pt x="12594082" y="22733"/>
                    <a:pt x="12594082" y="50800"/>
                  </a:cubicBezTo>
                  <a:cubicBezTo>
                    <a:pt x="12594082" y="78867"/>
                    <a:pt x="12571349" y="101600"/>
                    <a:pt x="12543282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438626" y="3844081"/>
            <a:ext cx="552747" cy="552748"/>
            <a:chOff x="0" y="0"/>
            <a:chExt cx="736997" cy="7369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6981" cy="736981"/>
            </a:xfrm>
            <a:custGeom>
              <a:avLst/>
              <a:gdLst/>
              <a:ahLst/>
              <a:cxnLst/>
              <a:rect r="r" b="b" t="t" l="l"/>
              <a:pathLst>
                <a:path h="736981" w="736981">
                  <a:moveTo>
                    <a:pt x="0" y="368554"/>
                  </a:moveTo>
                  <a:cubicBezTo>
                    <a:pt x="0" y="164973"/>
                    <a:pt x="164973" y="0"/>
                    <a:pt x="368554" y="0"/>
                  </a:cubicBezTo>
                  <a:cubicBezTo>
                    <a:pt x="572135" y="0"/>
                    <a:pt x="736981" y="164973"/>
                    <a:pt x="736981" y="368554"/>
                  </a:cubicBezTo>
                  <a:cubicBezTo>
                    <a:pt x="736981" y="572135"/>
                    <a:pt x="572008" y="736981"/>
                    <a:pt x="368554" y="736981"/>
                  </a:cubicBezTo>
                  <a:cubicBezTo>
                    <a:pt x="165100" y="736981"/>
                    <a:pt x="0" y="572008"/>
                    <a:pt x="0" y="368554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618163" y="3778437"/>
            <a:ext cx="198755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5536" y="4581079"/>
            <a:ext cx="2303710" cy="2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Desafios Éticos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5536" y="4912816"/>
            <a:ext cx="9038928" cy="36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Privacidade individual, consentimento e vieses em sistemas automatizados são questões complexas.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238" y="5938094"/>
            <a:ext cx="9445526" cy="1651695"/>
            <a:chOff x="0" y="0"/>
            <a:chExt cx="12594035" cy="22022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94082" cy="2202307"/>
            </a:xfrm>
            <a:custGeom>
              <a:avLst/>
              <a:gdLst/>
              <a:ahLst/>
              <a:cxnLst/>
              <a:rect r="r" b="b" t="t" l="l"/>
              <a:pathLst>
                <a:path h="2202307" w="1259408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2472162" y="0"/>
                  </a:lnTo>
                  <a:cubicBezTo>
                    <a:pt x="12539472" y="0"/>
                    <a:pt x="12594082" y="54610"/>
                    <a:pt x="12594082" y="121920"/>
                  </a:cubicBezTo>
                  <a:lnTo>
                    <a:pt x="12594082" y="2080387"/>
                  </a:lnTo>
                  <a:cubicBezTo>
                    <a:pt x="12594082" y="2147697"/>
                    <a:pt x="12539472" y="2202307"/>
                    <a:pt x="12472162" y="2202307"/>
                  </a:cubicBezTo>
                  <a:lnTo>
                    <a:pt x="121920" y="2202307"/>
                  </a:lnTo>
                  <a:cubicBezTo>
                    <a:pt x="54610" y="2202307"/>
                    <a:pt x="0" y="2147697"/>
                    <a:pt x="0" y="2080387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92238" y="5919044"/>
            <a:ext cx="9445526" cy="76200"/>
            <a:chOff x="0" y="0"/>
            <a:chExt cx="12594035" cy="10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594082" cy="101600"/>
            </a:xfrm>
            <a:custGeom>
              <a:avLst/>
              <a:gdLst/>
              <a:ahLst/>
              <a:cxnLst/>
              <a:rect r="r" b="b" t="t" l="l"/>
              <a:pathLst>
                <a:path h="101600" w="1259408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2543282" y="0"/>
                  </a:lnTo>
                  <a:cubicBezTo>
                    <a:pt x="12571349" y="0"/>
                    <a:pt x="12594082" y="22733"/>
                    <a:pt x="12594082" y="50800"/>
                  </a:cubicBezTo>
                  <a:cubicBezTo>
                    <a:pt x="12594082" y="78867"/>
                    <a:pt x="12571349" y="101600"/>
                    <a:pt x="12543282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438626" y="5661720"/>
            <a:ext cx="552747" cy="552747"/>
            <a:chOff x="0" y="0"/>
            <a:chExt cx="736997" cy="7369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6981" cy="736981"/>
            </a:xfrm>
            <a:custGeom>
              <a:avLst/>
              <a:gdLst/>
              <a:ahLst/>
              <a:cxnLst/>
              <a:rect r="r" b="b" t="t" l="l"/>
              <a:pathLst>
                <a:path h="736981" w="736981">
                  <a:moveTo>
                    <a:pt x="0" y="368554"/>
                  </a:moveTo>
                  <a:cubicBezTo>
                    <a:pt x="0" y="164973"/>
                    <a:pt x="164973" y="0"/>
                    <a:pt x="368554" y="0"/>
                  </a:cubicBezTo>
                  <a:cubicBezTo>
                    <a:pt x="572135" y="0"/>
                    <a:pt x="736981" y="164973"/>
                    <a:pt x="736981" y="368554"/>
                  </a:cubicBezTo>
                  <a:cubicBezTo>
                    <a:pt x="736981" y="572135"/>
                    <a:pt x="572008" y="736981"/>
                    <a:pt x="368554" y="736981"/>
                  </a:cubicBezTo>
                  <a:cubicBezTo>
                    <a:pt x="165100" y="736981"/>
                    <a:pt x="0" y="572008"/>
                    <a:pt x="0" y="368554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5634822" y="5579693"/>
            <a:ext cx="213995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5536" y="6398716"/>
            <a:ext cx="2303710" cy="28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Relevância Social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5536" y="6730454"/>
            <a:ext cx="9038928" cy="65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Necessidade de uso responsável e justo das tecnologias, garantindo que a inovação não comprometa direitos fundamentais.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2238" y="8050411"/>
            <a:ext cx="9445526" cy="1357015"/>
            <a:chOff x="0" y="0"/>
            <a:chExt cx="12594035" cy="18093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94082" cy="1809369"/>
            </a:xfrm>
            <a:custGeom>
              <a:avLst/>
              <a:gdLst/>
              <a:ahLst/>
              <a:cxnLst/>
              <a:rect r="r" b="b" t="t" l="l"/>
              <a:pathLst>
                <a:path h="1809369" w="1259408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2472162" y="0"/>
                  </a:lnTo>
                  <a:cubicBezTo>
                    <a:pt x="12539472" y="0"/>
                    <a:pt x="12594082" y="54610"/>
                    <a:pt x="12594082" y="121920"/>
                  </a:cubicBezTo>
                  <a:lnTo>
                    <a:pt x="12594082" y="1687449"/>
                  </a:lnTo>
                  <a:cubicBezTo>
                    <a:pt x="12594082" y="1754759"/>
                    <a:pt x="12539472" y="1809369"/>
                    <a:pt x="12472162" y="1809369"/>
                  </a:cubicBezTo>
                  <a:lnTo>
                    <a:pt x="121920" y="1809369"/>
                  </a:lnTo>
                  <a:cubicBezTo>
                    <a:pt x="54610" y="1809369"/>
                    <a:pt x="0" y="1754759"/>
                    <a:pt x="0" y="1687449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92238" y="8031361"/>
            <a:ext cx="9445526" cy="76200"/>
            <a:chOff x="0" y="0"/>
            <a:chExt cx="12594035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94082" cy="101600"/>
            </a:xfrm>
            <a:custGeom>
              <a:avLst/>
              <a:gdLst/>
              <a:ahLst/>
              <a:cxnLst/>
              <a:rect r="r" b="b" t="t" l="l"/>
              <a:pathLst>
                <a:path h="101600" w="1259408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2543282" y="0"/>
                  </a:lnTo>
                  <a:cubicBezTo>
                    <a:pt x="12571349" y="0"/>
                    <a:pt x="12594082" y="22733"/>
                    <a:pt x="12594082" y="50800"/>
                  </a:cubicBezTo>
                  <a:cubicBezTo>
                    <a:pt x="12594082" y="78867"/>
                    <a:pt x="12571349" y="101600"/>
                    <a:pt x="12543282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438626" y="7774038"/>
            <a:ext cx="552747" cy="552747"/>
            <a:chOff x="0" y="0"/>
            <a:chExt cx="736997" cy="7369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6981" cy="736981"/>
            </a:xfrm>
            <a:custGeom>
              <a:avLst/>
              <a:gdLst/>
              <a:ahLst/>
              <a:cxnLst/>
              <a:rect r="r" b="b" t="t" l="l"/>
              <a:pathLst>
                <a:path h="736981" w="736981">
                  <a:moveTo>
                    <a:pt x="0" y="368554"/>
                  </a:moveTo>
                  <a:cubicBezTo>
                    <a:pt x="0" y="164973"/>
                    <a:pt x="164973" y="0"/>
                    <a:pt x="368554" y="0"/>
                  </a:cubicBezTo>
                  <a:cubicBezTo>
                    <a:pt x="572135" y="0"/>
                    <a:pt x="736981" y="164973"/>
                    <a:pt x="736981" y="368554"/>
                  </a:cubicBezTo>
                  <a:cubicBezTo>
                    <a:pt x="736981" y="572135"/>
                    <a:pt x="572008" y="736981"/>
                    <a:pt x="368554" y="736981"/>
                  </a:cubicBezTo>
                  <a:cubicBezTo>
                    <a:pt x="165100" y="736981"/>
                    <a:pt x="0" y="572008"/>
                    <a:pt x="0" y="368554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5618163" y="7659738"/>
            <a:ext cx="193675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5536" y="8511034"/>
            <a:ext cx="2344639" cy="28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Governança de Dados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5536" y="8842771"/>
            <a:ext cx="9038928" cy="36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Mapear vulnerabilidades e propor princípios para profissionais, pesquisadores e reguladores.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863241" y="9599935"/>
            <a:ext cx="112554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08696"/>
            <a:ext cx="9137005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Objetivo Geral e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312914"/>
            <a:ext cx="4252912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Objetivo Geral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042321"/>
            <a:ext cx="780588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Analisar os desafios éticos do Big Data, identificando diretrizes para um tratamento de dados responsável.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98935" y="4645402"/>
            <a:ext cx="5566708" cy="5566708"/>
            <a:chOff x="0" y="0"/>
            <a:chExt cx="3810000" cy="3810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99401" y="3312914"/>
            <a:ext cx="4259313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Objetivos Específicos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99401" y="4338489"/>
            <a:ext cx="141685" cy="141685"/>
            <a:chOff x="0" y="0"/>
            <a:chExt cx="188913" cy="1889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4967E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924604" y="4077741"/>
            <a:ext cx="738068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Identificar questões éticas centrais: privacidade, viés algorítmico e transparência.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9401" y="5812780"/>
            <a:ext cx="141685" cy="141685"/>
            <a:chOff x="0" y="0"/>
            <a:chExt cx="188913" cy="1889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4967E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924604" y="5552034"/>
            <a:ext cx="738068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Descrever regulamentações e normativas sobre o uso de dados.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99401" y="7287071"/>
            <a:ext cx="141685" cy="141685"/>
            <a:chOff x="0" y="0"/>
            <a:chExt cx="188913" cy="1889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4967E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924604" y="7026325"/>
            <a:ext cx="738068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Analisar soluções técnicas para mitigar riscos éticos na gestão de Big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863241" y="9599935"/>
            <a:ext cx="198755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189685"/>
            <a:chOff x="0" y="0"/>
            <a:chExt cx="24384000" cy="425291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252976"/>
            </a:xfrm>
            <a:custGeom>
              <a:avLst/>
              <a:gdLst/>
              <a:ahLst/>
              <a:cxnLst/>
              <a:rect r="r" b="b" t="t" l="l"/>
              <a:pathLst>
                <a:path h="42529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252976"/>
                  </a:lnTo>
                  <a:lnTo>
                    <a:pt x="0" y="4252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" r="0" b="-1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108847"/>
            <a:ext cx="14319945" cy="82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Revisão da Literatura: Conceituação do Big Data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5" y="5312717"/>
            <a:ext cx="5273874" cy="2927597"/>
            <a:chOff x="0" y="0"/>
            <a:chExt cx="7031832" cy="39034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7019163" cy="3890772"/>
            </a:xfrm>
            <a:custGeom>
              <a:avLst/>
              <a:gdLst/>
              <a:ahLst/>
              <a:cxnLst/>
              <a:rect r="r" b="b" t="t" l="l"/>
              <a:pathLst>
                <a:path h="3890772" w="7019163">
                  <a:moveTo>
                    <a:pt x="0" y="142875"/>
                  </a:moveTo>
                  <a:cubicBezTo>
                    <a:pt x="0" y="64008"/>
                    <a:pt x="64135" y="0"/>
                    <a:pt x="143129" y="0"/>
                  </a:cubicBezTo>
                  <a:lnTo>
                    <a:pt x="6876034" y="0"/>
                  </a:lnTo>
                  <a:cubicBezTo>
                    <a:pt x="6955027" y="0"/>
                    <a:pt x="7019163" y="64008"/>
                    <a:pt x="7019163" y="142875"/>
                  </a:cubicBezTo>
                  <a:lnTo>
                    <a:pt x="7019163" y="3747897"/>
                  </a:lnTo>
                  <a:cubicBezTo>
                    <a:pt x="7019163" y="3826764"/>
                    <a:pt x="6955027" y="3890772"/>
                    <a:pt x="6876034" y="3890772"/>
                  </a:cubicBezTo>
                  <a:lnTo>
                    <a:pt x="143129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31863" cy="3903472"/>
            </a:xfrm>
            <a:custGeom>
              <a:avLst/>
              <a:gdLst/>
              <a:ahLst/>
              <a:cxnLst/>
              <a:rect r="r" b="b" t="t" l="l"/>
              <a:pathLst>
                <a:path h="3903472" w="7031863">
                  <a:moveTo>
                    <a:pt x="0" y="149225"/>
                  </a:moveTo>
                  <a:cubicBezTo>
                    <a:pt x="0" y="66802"/>
                    <a:pt x="66929" y="0"/>
                    <a:pt x="149479" y="0"/>
                  </a:cubicBezTo>
                  <a:lnTo>
                    <a:pt x="6882384" y="0"/>
                  </a:lnTo>
                  <a:lnTo>
                    <a:pt x="6882384" y="6350"/>
                  </a:lnTo>
                  <a:lnTo>
                    <a:pt x="6882384" y="0"/>
                  </a:lnTo>
                  <a:cubicBezTo>
                    <a:pt x="6964934" y="0"/>
                    <a:pt x="7031863" y="66802"/>
                    <a:pt x="7031863" y="149225"/>
                  </a:cubicBezTo>
                  <a:lnTo>
                    <a:pt x="7025513" y="149225"/>
                  </a:lnTo>
                  <a:lnTo>
                    <a:pt x="7031863" y="149225"/>
                  </a:lnTo>
                  <a:lnTo>
                    <a:pt x="7031863" y="3754247"/>
                  </a:lnTo>
                  <a:lnTo>
                    <a:pt x="7025513" y="3754247"/>
                  </a:lnTo>
                  <a:lnTo>
                    <a:pt x="7031863" y="3754247"/>
                  </a:lnTo>
                  <a:cubicBezTo>
                    <a:pt x="7031863" y="3836670"/>
                    <a:pt x="6964934" y="3903472"/>
                    <a:pt x="6882384" y="3903472"/>
                  </a:cubicBezTo>
                  <a:lnTo>
                    <a:pt x="6882384" y="3897122"/>
                  </a:lnTo>
                  <a:lnTo>
                    <a:pt x="6882384" y="3903472"/>
                  </a:lnTo>
                  <a:lnTo>
                    <a:pt x="149479" y="3903472"/>
                  </a:lnTo>
                  <a:lnTo>
                    <a:pt x="149479" y="3897122"/>
                  </a:lnTo>
                  <a:lnTo>
                    <a:pt x="149479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479" y="3890772"/>
                  </a:cubicBezTo>
                  <a:lnTo>
                    <a:pt x="6882384" y="3890772"/>
                  </a:lnTo>
                  <a:cubicBezTo>
                    <a:pt x="6957949" y="3890772"/>
                    <a:pt x="7019163" y="3829685"/>
                    <a:pt x="7019163" y="3754247"/>
                  </a:cubicBezTo>
                  <a:lnTo>
                    <a:pt x="7019163" y="149225"/>
                  </a:lnTo>
                  <a:cubicBezTo>
                    <a:pt x="7019163" y="73787"/>
                    <a:pt x="6957949" y="12700"/>
                    <a:pt x="6882384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787"/>
                    <a:pt x="12700" y="149225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6854" y="5582096"/>
            <a:ext cx="765422" cy="765422"/>
            <a:chOff x="0" y="0"/>
            <a:chExt cx="1020563" cy="1020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0572" cy="1020572"/>
            </a:xfrm>
            <a:custGeom>
              <a:avLst/>
              <a:gdLst/>
              <a:ahLst/>
              <a:cxnLst/>
              <a:rect r="r" b="b" t="t" l="l"/>
              <a:pathLst>
                <a:path h="1020572" w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467296" y="5792540"/>
            <a:ext cx="344389" cy="344389"/>
          </a:xfrm>
          <a:custGeom>
            <a:avLst/>
            <a:gdLst/>
            <a:ahLst/>
            <a:cxnLst/>
            <a:rect r="r" b="b" t="t" l="l"/>
            <a:pathLst>
              <a:path h="344389" w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56854" y="6583561"/>
            <a:ext cx="3189685" cy="41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Volume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6854" y="7077967"/>
            <a:ext cx="4735116" cy="89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Produção e circulação de dados em escala massiva.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06915" y="5312717"/>
            <a:ext cx="5274022" cy="2927597"/>
            <a:chOff x="0" y="0"/>
            <a:chExt cx="7032030" cy="3903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019290" cy="3890772"/>
            </a:xfrm>
            <a:custGeom>
              <a:avLst/>
              <a:gdLst/>
              <a:ahLst/>
              <a:cxnLst/>
              <a:rect r="r" b="b" t="t" l="l"/>
              <a:pathLst>
                <a:path h="3890772" w="7019290">
                  <a:moveTo>
                    <a:pt x="0" y="142875"/>
                  </a:moveTo>
                  <a:cubicBezTo>
                    <a:pt x="0" y="64008"/>
                    <a:pt x="64135" y="0"/>
                    <a:pt x="143129" y="0"/>
                  </a:cubicBezTo>
                  <a:lnTo>
                    <a:pt x="6876161" y="0"/>
                  </a:lnTo>
                  <a:cubicBezTo>
                    <a:pt x="6955155" y="0"/>
                    <a:pt x="7019290" y="64008"/>
                    <a:pt x="7019290" y="142875"/>
                  </a:cubicBezTo>
                  <a:lnTo>
                    <a:pt x="7019290" y="3747897"/>
                  </a:lnTo>
                  <a:cubicBezTo>
                    <a:pt x="7019290" y="3826764"/>
                    <a:pt x="6955155" y="3890772"/>
                    <a:pt x="6876161" y="3890772"/>
                  </a:cubicBezTo>
                  <a:lnTo>
                    <a:pt x="143129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31990" cy="3903472"/>
            </a:xfrm>
            <a:custGeom>
              <a:avLst/>
              <a:gdLst/>
              <a:ahLst/>
              <a:cxnLst/>
              <a:rect r="r" b="b" t="t" l="l"/>
              <a:pathLst>
                <a:path h="3903472" w="7031990">
                  <a:moveTo>
                    <a:pt x="0" y="149225"/>
                  </a:moveTo>
                  <a:cubicBezTo>
                    <a:pt x="0" y="66802"/>
                    <a:pt x="66929" y="0"/>
                    <a:pt x="149479" y="0"/>
                  </a:cubicBezTo>
                  <a:lnTo>
                    <a:pt x="6882511" y="0"/>
                  </a:lnTo>
                  <a:lnTo>
                    <a:pt x="6882511" y="6350"/>
                  </a:lnTo>
                  <a:lnTo>
                    <a:pt x="6882511" y="0"/>
                  </a:lnTo>
                  <a:cubicBezTo>
                    <a:pt x="6965061" y="0"/>
                    <a:pt x="7031990" y="66802"/>
                    <a:pt x="7031990" y="149225"/>
                  </a:cubicBezTo>
                  <a:lnTo>
                    <a:pt x="7025640" y="149225"/>
                  </a:lnTo>
                  <a:lnTo>
                    <a:pt x="7031990" y="149225"/>
                  </a:lnTo>
                  <a:lnTo>
                    <a:pt x="7031990" y="3754247"/>
                  </a:lnTo>
                  <a:lnTo>
                    <a:pt x="7025640" y="3754247"/>
                  </a:lnTo>
                  <a:lnTo>
                    <a:pt x="7031990" y="3754247"/>
                  </a:lnTo>
                  <a:cubicBezTo>
                    <a:pt x="7031990" y="3836670"/>
                    <a:pt x="6965061" y="3903472"/>
                    <a:pt x="6882511" y="3903472"/>
                  </a:cubicBezTo>
                  <a:lnTo>
                    <a:pt x="6882511" y="3897122"/>
                  </a:lnTo>
                  <a:lnTo>
                    <a:pt x="6882511" y="3903472"/>
                  </a:lnTo>
                  <a:lnTo>
                    <a:pt x="149479" y="3903472"/>
                  </a:lnTo>
                  <a:lnTo>
                    <a:pt x="149479" y="3897122"/>
                  </a:lnTo>
                  <a:lnTo>
                    <a:pt x="149479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479" y="3890772"/>
                  </a:cubicBezTo>
                  <a:lnTo>
                    <a:pt x="6882511" y="3890772"/>
                  </a:lnTo>
                  <a:cubicBezTo>
                    <a:pt x="6958076" y="3890772"/>
                    <a:pt x="7019290" y="3829685"/>
                    <a:pt x="7019290" y="3754247"/>
                  </a:cubicBezTo>
                  <a:lnTo>
                    <a:pt x="7019290" y="149225"/>
                  </a:lnTo>
                  <a:cubicBezTo>
                    <a:pt x="7019290" y="73787"/>
                    <a:pt x="6958076" y="12700"/>
                    <a:pt x="6882511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787"/>
                    <a:pt x="12700" y="149225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76294" y="5582096"/>
            <a:ext cx="765422" cy="765422"/>
            <a:chOff x="0" y="0"/>
            <a:chExt cx="1020563" cy="10205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0572" cy="1020572"/>
            </a:xfrm>
            <a:custGeom>
              <a:avLst/>
              <a:gdLst/>
              <a:ahLst/>
              <a:cxnLst/>
              <a:rect r="r" b="b" t="t" l="l"/>
              <a:pathLst>
                <a:path h="1020572" w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6986736" y="5792540"/>
            <a:ext cx="344389" cy="344389"/>
          </a:xfrm>
          <a:custGeom>
            <a:avLst/>
            <a:gdLst/>
            <a:ahLst/>
            <a:cxnLst/>
            <a:rect r="r" b="b" t="t" l="l"/>
            <a:pathLst>
              <a:path h="344389" w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702" t="0" r="-2702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776294" y="6583561"/>
            <a:ext cx="3189685" cy="41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Velocidade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76294" y="7077967"/>
            <a:ext cx="4735265" cy="89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Geração e processamento de dados em tempo real.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26504" y="5312717"/>
            <a:ext cx="5274022" cy="2927597"/>
            <a:chOff x="0" y="0"/>
            <a:chExt cx="7032030" cy="39034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7019290" cy="3890772"/>
            </a:xfrm>
            <a:custGeom>
              <a:avLst/>
              <a:gdLst/>
              <a:ahLst/>
              <a:cxnLst/>
              <a:rect r="r" b="b" t="t" l="l"/>
              <a:pathLst>
                <a:path h="3890772" w="7019290">
                  <a:moveTo>
                    <a:pt x="0" y="142875"/>
                  </a:moveTo>
                  <a:cubicBezTo>
                    <a:pt x="0" y="64008"/>
                    <a:pt x="64135" y="0"/>
                    <a:pt x="143129" y="0"/>
                  </a:cubicBezTo>
                  <a:lnTo>
                    <a:pt x="6876161" y="0"/>
                  </a:lnTo>
                  <a:cubicBezTo>
                    <a:pt x="6955155" y="0"/>
                    <a:pt x="7019290" y="64008"/>
                    <a:pt x="7019290" y="142875"/>
                  </a:cubicBezTo>
                  <a:lnTo>
                    <a:pt x="7019290" y="3747897"/>
                  </a:lnTo>
                  <a:cubicBezTo>
                    <a:pt x="7019290" y="3826764"/>
                    <a:pt x="6955155" y="3890772"/>
                    <a:pt x="6876161" y="3890772"/>
                  </a:cubicBezTo>
                  <a:lnTo>
                    <a:pt x="143129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31990" cy="3903472"/>
            </a:xfrm>
            <a:custGeom>
              <a:avLst/>
              <a:gdLst/>
              <a:ahLst/>
              <a:cxnLst/>
              <a:rect r="r" b="b" t="t" l="l"/>
              <a:pathLst>
                <a:path h="3903472" w="7031990">
                  <a:moveTo>
                    <a:pt x="0" y="149225"/>
                  </a:moveTo>
                  <a:cubicBezTo>
                    <a:pt x="0" y="66802"/>
                    <a:pt x="66929" y="0"/>
                    <a:pt x="149479" y="0"/>
                  </a:cubicBezTo>
                  <a:lnTo>
                    <a:pt x="6882511" y="0"/>
                  </a:lnTo>
                  <a:lnTo>
                    <a:pt x="6882511" y="6350"/>
                  </a:lnTo>
                  <a:lnTo>
                    <a:pt x="6882511" y="0"/>
                  </a:lnTo>
                  <a:cubicBezTo>
                    <a:pt x="6965061" y="0"/>
                    <a:pt x="7031990" y="66802"/>
                    <a:pt x="7031990" y="149225"/>
                  </a:cubicBezTo>
                  <a:lnTo>
                    <a:pt x="7025640" y="149225"/>
                  </a:lnTo>
                  <a:lnTo>
                    <a:pt x="7031990" y="149225"/>
                  </a:lnTo>
                  <a:lnTo>
                    <a:pt x="7031990" y="3754247"/>
                  </a:lnTo>
                  <a:lnTo>
                    <a:pt x="7025640" y="3754247"/>
                  </a:lnTo>
                  <a:lnTo>
                    <a:pt x="7031990" y="3754247"/>
                  </a:lnTo>
                  <a:cubicBezTo>
                    <a:pt x="7031990" y="3836670"/>
                    <a:pt x="6965061" y="3903472"/>
                    <a:pt x="6882511" y="3903472"/>
                  </a:cubicBezTo>
                  <a:lnTo>
                    <a:pt x="6882511" y="3897122"/>
                  </a:lnTo>
                  <a:lnTo>
                    <a:pt x="6882511" y="3903472"/>
                  </a:lnTo>
                  <a:lnTo>
                    <a:pt x="149479" y="3903472"/>
                  </a:lnTo>
                  <a:lnTo>
                    <a:pt x="149479" y="3897122"/>
                  </a:lnTo>
                  <a:lnTo>
                    <a:pt x="149479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479" y="3890772"/>
                  </a:cubicBezTo>
                  <a:lnTo>
                    <a:pt x="6882511" y="3890772"/>
                  </a:lnTo>
                  <a:cubicBezTo>
                    <a:pt x="6958076" y="3890772"/>
                    <a:pt x="7019290" y="3829685"/>
                    <a:pt x="7019290" y="3754247"/>
                  </a:cubicBezTo>
                  <a:lnTo>
                    <a:pt x="7019290" y="149225"/>
                  </a:lnTo>
                  <a:cubicBezTo>
                    <a:pt x="7019290" y="73787"/>
                    <a:pt x="6958076" y="12700"/>
                    <a:pt x="6882511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787"/>
                    <a:pt x="12700" y="149225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295882" y="5582096"/>
            <a:ext cx="765422" cy="765422"/>
            <a:chOff x="0" y="0"/>
            <a:chExt cx="1020563" cy="10205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0572" cy="1020572"/>
            </a:xfrm>
            <a:custGeom>
              <a:avLst/>
              <a:gdLst/>
              <a:ahLst/>
              <a:cxnLst/>
              <a:rect r="r" b="b" t="t" l="l"/>
              <a:pathLst>
                <a:path h="1020572" w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2506325" y="5792540"/>
            <a:ext cx="344389" cy="344389"/>
          </a:xfrm>
          <a:custGeom>
            <a:avLst/>
            <a:gdLst/>
            <a:ahLst/>
            <a:cxnLst/>
            <a:rect r="r" b="b" t="t" l="l"/>
            <a:pathLst>
              <a:path h="344389" w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295882" y="6583561"/>
            <a:ext cx="3189685" cy="41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Variedade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95882" y="7077967"/>
            <a:ext cx="4735265" cy="89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Diversidade de formatos e fontes de dados.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2238" y="8446294"/>
            <a:ext cx="16303526" cy="89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expansão do Big Data intensificou debates éticos sobre monitoramento e inferência de comportamentos, impactando privacidade e autonomia dos cidadãos.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863241" y="9599935"/>
            <a:ext cx="213995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88270"/>
            <a:ext cx="11794331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Transparência e Ética da Opacidade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78337"/>
            <a:ext cx="950535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cultura digital impulsiona a transparência, com dispositivos gerando fluxo contínuo de informações.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240685"/>
            <a:ext cx="950535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ausência de controle sobre dados pessoais intensifica riscos como vigilância ampliada e perda de liberdades.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403033"/>
            <a:ext cx="950535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É crucial refletir eticamente sobre como esses dados são coletados, analisados e utilizados.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473734" y="2906305"/>
            <a:ext cx="5785566" cy="5785566"/>
            <a:chOff x="0" y="0"/>
            <a:chExt cx="3810000" cy="3810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863241" y="9599935"/>
            <a:ext cx="193675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097905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Dilemas Éticos no Uso do Big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218855"/>
            <a:ext cx="944552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O processamento massivo de dados levanta dilemas de "Big Brother", com vigilância que pode violar privacidade e liberdades civis.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3188" y="4530775"/>
            <a:ext cx="9483626" cy="2201615"/>
            <a:chOff x="0" y="0"/>
            <a:chExt cx="12644835" cy="29354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259408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2594082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2346940" y="0"/>
                  </a:lnTo>
                  <a:cubicBezTo>
                    <a:pt x="12483465" y="0"/>
                    <a:pt x="12594082" y="109220"/>
                    <a:pt x="12594082" y="243840"/>
                  </a:cubicBezTo>
                  <a:lnTo>
                    <a:pt x="12594082" y="2640838"/>
                  </a:lnTo>
                  <a:cubicBezTo>
                    <a:pt x="12594082" y="2775458"/>
                    <a:pt x="12483465" y="2884678"/>
                    <a:pt x="12346940" y="2884678"/>
                  </a:cubicBezTo>
                  <a:lnTo>
                    <a:pt x="247142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4488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2644882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2372340" y="0"/>
                  </a:lnTo>
                  <a:lnTo>
                    <a:pt x="12372340" y="25400"/>
                  </a:lnTo>
                  <a:lnTo>
                    <a:pt x="12372340" y="0"/>
                  </a:lnTo>
                  <a:cubicBezTo>
                    <a:pt x="12522581" y="0"/>
                    <a:pt x="12644882" y="120269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666238"/>
                  </a:lnTo>
                  <a:lnTo>
                    <a:pt x="12619482" y="2666238"/>
                  </a:lnTo>
                  <a:lnTo>
                    <a:pt x="12644882" y="2666238"/>
                  </a:lnTo>
                  <a:cubicBezTo>
                    <a:pt x="12644882" y="2815209"/>
                    <a:pt x="12522581" y="2935478"/>
                    <a:pt x="12372340" y="2935478"/>
                  </a:cubicBezTo>
                  <a:lnTo>
                    <a:pt x="12372340" y="2910078"/>
                  </a:lnTo>
                  <a:lnTo>
                    <a:pt x="12372340" y="2935478"/>
                  </a:lnTo>
                  <a:lnTo>
                    <a:pt x="272542" y="2935478"/>
                  </a:lnTo>
                  <a:lnTo>
                    <a:pt x="272542" y="2910078"/>
                  </a:lnTo>
                  <a:lnTo>
                    <a:pt x="272542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507"/>
                    <a:pt x="149733" y="2884678"/>
                    <a:pt x="272542" y="2884678"/>
                  </a:cubicBezTo>
                  <a:lnTo>
                    <a:pt x="12372340" y="2884678"/>
                  </a:lnTo>
                  <a:cubicBezTo>
                    <a:pt x="12495149" y="2884678"/>
                    <a:pt x="12594082" y="2786507"/>
                    <a:pt x="12594082" y="2666238"/>
                  </a:cubicBezTo>
                  <a:lnTo>
                    <a:pt x="12594082" y="269240"/>
                  </a:lnTo>
                  <a:cubicBezTo>
                    <a:pt x="12594082" y="148971"/>
                    <a:pt x="12495149" y="50800"/>
                    <a:pt x="12372340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155" y="4861917"/>
            <a:ext cx="406137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Identidade e Privacidade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5" y="5379690"/>
            <a:ext cx="868799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reidentificação de dados anonimizados é possível. Algoritmos enviesados podem reproduzir discriminações.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3188" y="6977806"/>
            <a:ext cx="9483626" cy="2201615"/>
            <a:chOff x="0" y="0"/>
            <a:chExt cx="12644835" cy="29354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1259408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2594082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2346940" y="0"/>
                  </a:lnTo>
                  <a:cubicBezTo>
                    <a:pt x="12483465" y="0"/>
                    <a:pt x="12594082" y="109220"/>
                    <a:pt x="12594082" y="243840"/>
                  </a:cubicBezTo>
                  <a:lnTo>
                    <a:pt x="12594082" y="2640838"/>
                  </a:lnTo>
                  <a:cubicBezTo>
                    <a:pt x="12594082" y="2775458"/>
                    <a:pt x="12483465" y="2884678"/>
                    <a:pt x="12346940" y="2884678"/>
                  </a:cubicBezTo>
                  <a:lnTo>
                    <a:pt x="247142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4488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2644882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2372340" y="0"/>
                  </a:lnTo>
                  <a:lnTo>
                    <a:pt x="12372340" y="25400"/>
                  </a:lnTo>
                  <a:lnTo>
                    <a:pt x="12372340" y="0"/>
                  </a:lnTo>
                  <a:cubicBezTo>
                    <a:pt x="12522581" y="0"/>
                    <a:pt x="12644882" y="120269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666238"/>
                  </a:lnTo>
                  <a:lnTo>
                    <a:pt x="12619482" y="2666238"/>
                  </a:lnTo>
                  <a:lnTo>
                    <a:pt x="12644882" y="2666238"/>
                  </a:lnTo>
                  <a:cubicBezTo>
                    <a:pt x="12644882" y="2815209"/>
                    <a:pt x="12522581" y="2935478"/>
                    <a:pt x="12372340" y="2935478"/>
                  </a:cubicBezTo>
                  <a:lnTo>
                    <a:pt x="12372340" y="2910078"/>
                  </a:lnTo>
                  <a:lnTo>
                    <a:pt x="12372340" y="2935478"/>
                  </a:lnTo>
                  <a:lnTo>
                    <a:pt x="272542" y="2935478"/>
                  </a:lnTo>
                  <a:lnTo>
                    <a:pt x="272542" y="2910078"/>
                  </a:lnTo>
                  <a:lnTo>
                    <a:pt x="272542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507"/>
                    <a:pt x="149733" y="2884678"/>
                    <a:pt x="272542" y="2884678"/>
                  </a:cubicBezTo>
                  <a:lnTo>
                    <a:pt x="12372340" y="2884678"/>
                  </a:lnTo>
                  <a:cubicBezTo>
                    <a:pt x="12495149" y="2884678"/>
                    <a:pt x="12594082" y="2786507"/>
                    <a:pt x="12594082" y="2666238"/>
                  </a:cubicBezTo>
                  <a:lnTo>
                    <a:pt x="12594082" y="269240"/>
                  </a:lnTo>
                  <a:cubicBezTo>
                    <a:pt x="12594082" y="148971"/>
                    <a:pt x="12495149" y="50800"/>
                    <a:pt x="12372340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28155" y="7308949"/>
            <a:ext cx="408354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Propriedade e Reputação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155" y="7826722"/>
            <a:ext cx="868799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Dados são mercadorias. O Big Data aumenta a capacidade de formar opiniões sobre indivíduos, afetando a reputação virtual.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863241" y="9599935"/>
            <a:ext cx="214471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00125"/>
            <a:ext cx="11391900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Respostas Éticas e Lacunas Legais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6130" y="2765579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Investigação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6130" y="3212113"/>
            <a:ext cx="3731639" cy="114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8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Modelo de Davis: Alinhar necessidades organizacionais e interesses sociais.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19437" y="2765579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Análise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19437" y="3212113"/>
            <a:ext cx="4107914" cy="75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4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Teoria Crítica: Questionar estruturas de poder na coleta e uso de dados.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6130" y="6198396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06130" y="6546059"/>
            <a:ext cx="4867424" cy="114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8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Competência Crítica em Informação: Empoderar usuários a questionar práticas de dados.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2384" y="8699897"/>
            <a:ext cx="1630352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LGPD é um avanço, mas o ordenamento jurídico brasileiro ainda enfrenta desafios para acompanhar as transformações tecnológicas.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19437" y="6250219"/>
            <a:ext cx="1891189" cy="42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Articulação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681435" y="3297838"/>
            <a:ext cx="2061386" cy="0"/>
          </a:xfrm>
          <a:prstGeom prst="line">
            <a:avLst/>
          </a:prstGeom>
          <a:ln cap="flat" w="38100">
            <a:solidFill>
              <a:srgbClr val="4041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2707673" y="4560672"/>
            <a:ext cx="0" cy="1385878"/>
          </a:xfrm>
          <a:prstGeom prst="line">
            <a:avLst/>
          </a:prstGeom>
          <a:ln cap="flat" w="38100">
            <a:solidFill>
              <a:srgbClr val="4041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11419437" y="6798178"/>
            <a:ext cx="4867424" cy="76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18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18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efinir políticas claras e comunicar valores éticos aos envolvidos.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7681435" y="7018757"/>
            <a:ext cx="2061386" cy="0"/>
          </a:xfrm>
          <a:prstGeom prst="line">
            <a:avLst/>
          </a:prstGeom>
          <a:ln cap="flat" w="38100">
            <a:solidFill>
              <a:srgbClr val="54545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3959106" y="4540599"/>
            <a:ext cx="19046" cy="1385486"/>
          </a:xfrm>
          <a:prstGeom prst="line">
            <a:avLst/>
          </a:prstGeom>
          <a:ln cap="flat" w="38100">
            <a:solidFill>
              <a:srgbClr val="4041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0" id="20"/>
          <p:cNvSpPr txBox="true"/>
          <p:nvPr/>
        </p:nvSpPr>
        <p:spPr>
          <a:xfrm rot="0">
            <a:off x="17863241" y="9599935"/>
            <a:ext cx="220663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545454"/>
                </a:solidFill>
                <a:latin typeface="Corben"/>
                <a:ea typeface="Corben"/>
                <a:cs typeface="Corben"/>
                <a:sym typeface="Corben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27523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Metodologia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31740"/>
            <a:ext cx="4252912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Tipo de Pesquisa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461147"/>
            <a:ext cx="780588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Pesquisa bibliográfica e exploratória com abordagem qualitativa.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623495"/>
            <a:ext cx="780588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Perspectiva crítica para questionar interesses e estruturas de poder na manipulação de dados.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733742" y="4758929"/>
            <a:ext cx="5605228" cy="5605228"/>
            <a:chOff x="0" y="0"/>
            <a:chExt cx="3810000" cy="3810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99401" y="2731740"/>
            <a:ext cx="4252912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Foco da Análise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99401" y="3757315"/>
            <a:ext cx="141685" cy="141685"/>
            <a:chOff x="0" y="0"/>
            <a:chExt cx="188913" cy="188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924604" y="3496567"/>
            <a:ext cx="738068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Análise crítica focada nos quatro eixos de Davis: Identidade, Privacidade, Propriedade e Reputação.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99401" y="5231606"/>
            <a:ext cx="141685" cy="141685"/>
            <a:chOff x="0" y="0"/>
            <a:chExt cx="188913" cy="188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40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924604" y="4970860"/>
            <a:ext cx="738068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Fontes selecionadas de Google Scholar, SciELO e Portal CAPES, priorizando relevância e atualidade.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63241" y="9599935"/>
            <a:ext cx="162560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314599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Resultados e Impactos Esperados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5475" y="3535561"/>
            <a:ext cx="4590455" cy="3023146"/>
            <a:chOff x="0" y="0"/>
            <a:chExt cx="6120607" cy="40308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6107938" cy="4018153"/>
            </a:xfrm>
            <a:custGeom>
              <a:avLst/>
              <a:gdLst/>
              <a:ahLst/>
              <a:cxnLst/>
              <a:rect r="r" b="b" t="t" l="l"/>
              <a:pathLst>
                <a:path h="4018153" w="6107938">
                  <a:moveTo>
                    <a:pt x="0" y="907288"/>
                  </a:moveTo>
                  <a:cubicBezTo>
                    <a:pt x="0" y="406273"/>
                    <a:pt x="406654" y="0"/>
                    <a:pt x="908304" y="0"/>
                  </a:cubicBezTo>
                  <a:lnTo>
                    <a:pt x="5199634" y="0"/>
                  </a:lnTo>
                  <a:cubicBezTo>
                    <a:pt x="5701284" y="0"/>
                    <a:pt x="6107938" y="406273"/>
                    <a:pt x="6107938" y="907288"/>
                  </a:cubicBezTo>
                  <a:lnTo>
                    <a:pt x="6107938" y="3110865"/>
                  </a:lnTo>
                  <a:cubicBezTo>
                    <a:pt x="6107938" y="3612007"/>
                    <a:pt x="5701284" y="4018153"/>
                    <a:pt x="5199634" y="4018153"/>
                  </a:cubicBezTo>
                  <a:lnTo>
                    <a:pt x="908304" y="4018153"/>
                  </a:lnTo>
                  <a:cubicBezTo>
                    <a:pt x="406654" y="4018153"/>
                    <a:pt x="0" y="3612007"/>
                    <a:pt x="0" y="3110865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0638" cy="4030853"/>
            </a:xfrm>
            <a:custGeom>
              <a:avLst/>
              <a:gdLst/>
              <a:ahLst/>
              <a:cxnLst/>
              <a:rect r="r" b="b" t="t" l="l"/>
              <a:pathLst>
                <a:path h="4030853" w="6120638">
                  <a:moveTo>
                    <a:pt x="0" y="913638"/>
                  </a:moveTo>
                  <a:cubicBezTo>
                    <a:pt x="0" y="409067"/>
                    <a:pt x="409448" y="0"/>
                    <a:pt x="914654" y="0"/>
                  </a:cubicBezTo>
                  <a:lnTo>
                    <a:pt x="5205984" y="0"/>
                  </a:lnTo>
                  <a:lnTo>
                    <a:pt x="5205984" y="6350"/>
                  </a:lnTo>
                  <a:lnTo>
                    <a:pt x="5205984" y="0"/>
                  </a:lnTo>
                  <a:cubicBezTo>
                    <a:pt x="5711063" y="0"/>
                    <a:pt x="6120638" y="409067"/>
                    <a:pt x="6120638" y="913638"/>
                  </a:cubicBezTo>
                  <a:lnTo>
                    <a:pt x="6114288" y="913638"/>
                  </a:lnTo>
                  <a:lnTo>
                    <a:pt x="6120638" y="913638"/>
                  </a:lnTo>
                  <a:lnTo>
                    <a:pt x="6120638" y="3117215"/>
                  </a:lnTo>
                  <a:lnTo>
                    <a:pt x="6114288" y="3117215"/>
                  </a:lnTo>
                  <a:lnTo>
                    <a:pt x="6120638" y="3117215"/>
                  </a:lnTo>
                  <a:cubicBezTo>
                    <a:pt x="6120638" y="3621786"/>
                    <a:pt x="5711190" y="4030853"/>
                    <a:pt x="5205984" y="4030853"/>
                  </a:cubicBezTo>
                  <a:lnTo>
                    <a:pt x="5205984" y="4024503"/>
                  </a:lnTo>
                  <a:lnTo>
                    <a:pt x="5205984" y="4030853"/>
                  </a:lnTo>
                  <a:lnTo>
                    <a:pt x="914654" y="4030853"/>
                  </a:lnTo>
                  <a:lnTo>
                    <a:pt x="914654" y="4024503"/>
                  </a:lnTo>
                  <a:lnTo>
                    <a:pt x="914654" y="4030853"/>
                  </a:lnTo>
                  <a:cubicBezTo>
                    <a:pt x="409448" y="4030853"/>
                    <a:pt x="0" y="3621786"/>
                    <a:pt x="0" y="3117215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117215"/>
                  </a:lnTo>
                  <a:lnTo>
                    <a:pt x="6350" y="3117215"/>
                  </a:lnTo>
                  <a:lnTo>
                    <a:pt x="12700" y="3117215"/>
                  </a:lnTo>
                  <a:cubicBezTo>
                    <a:pt x="12700" y="3614801"/>
                    <a:pt x="416560" y="4018153"/>
                    <a:pt x="914654" y="4018153"/>
                  </a:cubicBezTo>
                  <a:lnTo>
                    <a:pt x="5205984" y="4018153"/>
                  </a:lnTo>
                  <a:cubicBezTo>
                    <a:pt x="5704078" y="4018153"/>
                    <a:pt x="6107938" y="3614801"/>
                    <a:pt x="6107938" y="3117215"/>
                  </a:cubicBezTo>
                  <a:lnTo>
                    <a:pt x="6107938" y="913638"/>
                  </a:lnTo>
                  <a:cubicBezTo>
                    <a:pt x="6107938" y="416052"/>
                    <a:pt x="5704078" y="12700"/>
                    <a:pt x="5205984" y="12700"/>
                  </a:cubicBezTo>
                  <a:lnTo>
                    <a:pt x="914654" y="12700"/>
                  </a:lnTo>
                  <a:lnTo>
                    <a:pt x="914654" y="6350"/>
                  </a:lnTo>
                  <a:lnTo>
                    <a:pt x="914654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143280" y="3823841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Mapeamento Crítico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3280" y="4341614"/>
            <a:ext cx="3994845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Identificação clara dos riscos éticos do Big Data (Identidade, Privacidade, Propriedade, Reputação).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09922" y="3535561"/>
            <a:ext cx="4590604" cy="3023146"/>
            <a:chOff x="0" y="0"/>
            <a:chExt cx="6120805" cy="40308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108192" cy="4018153"/>
            </a:xfrm>
            <a:custGeom>
              <a:avLst/>
              <a:gdLst/>
              <a:ahLst/>
              <a:cxnLst/>
              <a:rect r="r" b="b" t="t" l="l"/>
              <a:pathLst>
                <a:path h="4018153" w="6108192">
                  <a:moveTo>
                    <a:pt x="0" y="907288"/>
                  </a:moveTo>
                  <a:cubicBezTo>
                    <a:pt x="0" y="406273"/>
                    <a:pt x="406654" y="0"/>
                    <a:pt x="908304" y="0"/>
                  </a:cubicBezTo>
                  <a:lnTo>
                    <a:pt x="5199888" y="0"/>
                  </a:lnTo>
                  <a:cubicBezTo>
                    <a:pt x="5701538" y="0"/>
                    <a:pt x="6108192" y="406273"/>
                    <a:pt x="6108192" y="907288"/>
                  </a:cubicBezTo>
                  <a:lnTo>
                    <a:pt x="6108192" y="3110865"/>
                  </a:lnTo>
                  <a:cubicBezTo>
                    <a:pt x="6108192" y="3612007"/>
                    <a:pt x="5701538" y="4018153"/>
                    <a:pt x="5199888" y="4018153"/>
                  </a:cubicBezTo>
                  <a:lnTo>
                    <a:pt x="908304" y="4018153"/>
                  </a:lnTo>
                  <a:cubicBezTo>
                    <a:pt x="406654" y="4018153"/>
                    <a:pt x="0" y="3612007"/>
                    <a:pt x="0" y="3110865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0892" cy="4030853"/>
            </a:xfrm>
            <a:custGeom>
              <a:avLst/>
              <a:gdLst/>
              <a:ahLst/>
              <a:cxnLst/>
              <a:rect r="r" b="b" t="t" l="l"/>
              <a:pathLst>
                <a:path h="4030853" w="6120892">
                  <a:moveTo>
                    <a:pt x="0" y="913638"/>
                  </a:moveTo>
                  <a:cubicBezTo>
                    <a:pt x="0" y="409067"/>
                    <a:pt x="409448" y="0"/>
                    <a:pt x="914654" y="0"/>
                  </a:cubicBezTo>
                  <a:lnTo>
                    <a:pt x="5206238" y="0"/>
                  </a:lnTo>
                  <a:lnTo>
                    <a:pt x="5206238" y="6350"/>
                  </a:lnTo>
                  <a:lnTo>
                    <a:pt x="5206238" y="0"/>
                  </a:lnTo>
                  <a:cubicBezTo>
                    <a:pt x="5711317" y="0"/>
                    <a:pt x="6120892" y="409067"/>
                    <a:pt x="6120892" y="913638"/>
                  </a:cubicBezTo>
                  <a:lnTo>
                    <a:pt x="6114542" y="913638"/>
                  </a:lnTo>
                  <a:lnTo>
                    <a:pt x="6120892" y="913638"/>
                  </a:lnTo>
                  <a:lnTo>
                    <a:pt x="6120892" y="3117215"/>
                  </a:lnTo>
                  <a:lnTo>
                    <a:pt x="6114542" y="3117215"/>
                  </a:lnTo>
                  <a:lnTo>
                    <a:pt x="6120892" y="3117215"/>
                  </a:lnTo>
                  <a:cubicBezTo>
                    <a:pt x="6120892" y="3621786"/>
                    <a:pt x="5711444" y="4030853"/>
                    <a:pt x="5206238" y="4030853"/>
                  </a:cubicBezTo>
                  <a:lnTo>
                    <a:pt x="5206238" y="4024503"/>
                  </a:lnTo>
                  <a:lnTo>
                    <a:pt x="5206238" y="4030853"/>
                  </a:lnTo>
                  <a:lnTo>
                    <a:pt x="914654" y="4030853"/>
                  </a:lnTo>
                  <a:lnTo>
                    <a:pt x="914654" y="4024503"/>
                  </a:lnTo>
                  <a:lnTo>
                    <a:pt x="914654" y="4030853"/>
                  </a:lnTo>
                  <a:cubicBezTo>
                    <a:pt x="409448" y="4030853"/>
                    <a:pt x="0" y="3621786"/>
                    <a:pt x="0" y="3117215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117215"/>
                  </a:lnTo>
                  <a:lnTo>
                    <a:pt x="6350" y="3117215"/>
                  </a:lnTo>
                  <a:lnTo>
                    <a:pt x="12700" y="3117215"/>
                  </a:lnTo>
                  <a:cubicBezTo>
                    <a:pt x="12700" y="3614801"/>
                    <a:pt x="416560" y="4018153"/>
                    <a:pt x="914654" y="4018153"/>
                  </a:cubicBezTo>
                  <a:lnTo>
                    <a:pt x="5206238" y="4018153"/>
                  </a:lnTo>
                  <a:cubicBezTo>
                    <a:pt x="5704332" y="4018153"/>
                    <a:pt x="6108192" y="3614801"/>
                    <a:pt x="6108192" y="3117215"/>
                  </a:cubicBezTo>
                  <a:lnTo>
                    <a:pt x="6108192" y="913638"/>
                  </a:lnTo>
                  <a:cubicBezTo>
                    <a:pt x="6108065" y="416052"/>
                    <a:pt x="5704332" y="12700"/>
                    <a:pt x="5206238" y="12700"/>
                  </a:cubicBezTo>
                  <a:lnTo>
                    <a:pt x="914654" y="12700"/>
                  </a:lnTo>
                  <a:lnTo>
                    <a:pt x="914654" y="6350"/>
                  </a:lnTo>
                  <a:lnTo>
                    <a:pt x="914654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007728" y="3823841"/>
            <a:ext cx="375538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Modelo de Governança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07728" y="4341614"/>
            <a:ext cx="3994994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Adaptação do modelo de Davis para alinhar práticas de dados com valores éticos.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45475" y="6832699"/>
            <a:ext cx="9455051" cy="2115890"/>
            <a:chOff x="0" y="0"/>
            <a:chExt cx="12606735" cy="28211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2593955" cy="2808478"/>
            </a:xfrm>
            <a:custGeom>
              <a:avLst/>
              <a:gdLst/>
              <a:ahLst/>
              <a:cxnLst/>
              <a:rect r="r" b="b" t="t" l="l"/>
              <a:pathLst>
                <a:path h="2808478" w="12593955">
                  <a:moveTo>
                    <a:pt x="0" y="907288"/>
                  </a:moveTo>
                  <a:cubicBezTo>
                    <a:pt x="0" y="406273"/>
                    <a:pt x="407670" y="0"/>
                    <a:pt x="910463" y="0"/>
                  </a:cubicBezTo>
                  <a:lnTo>
                    <a:pt x="11683492" y="0"/>
                  </a:lnTo>
                  <a:cubicBezTo>
                    <a:pt x="12186286" y="0"/>
                    <a:pt x="12593955" y="406273"/>
                    <a:pt x="12593955" y="907288"/>
                  </a:cubicBezTo>
                  <a:lnTo>
                    <a:pt x="12593955" y="1901190"/>
                  </a:lnTo>
                  <a:cubicBezTo>
                    <a:pt x="12593955" y="2402332"/>
                    <a:pt x="12186286" y="2808478"/>
                    <a:pt x="11683492" y="2808478"/>
                  </a:cubicBezTo>
                  <a:lnTo>
                    <a:pt x="910463" y="2808478"/>
                  </a:lnTo>
                  <a:cubicBezTo>
                    <a:pt x="407670" y="2808478"/>
                    <a:pt x="0" y="2402332"/>
                    <a:pt x="0" y="1901190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06655" cy="2821178"/>
            </a:xfrm>
            <a:custGeom>
              <a:avLst/>
              <a:gdLst/>
              <a:ahLst/>
              <a:cxnLst/>
              <a:rect r="r" b="b" t="t" l="l"/>
              <a:pathLst>
                <a:path h="2821178" w="12606655">
                  <a:moveTo>
                    <a:pt x="0" y="913638"/>
                  </a:moveTo>
                  <a:cubicBezTo>
                    <a:pt x="0" y="409067"/>
                    <a:pt x="410464" y="0"/>
                    <a:pt x="916813" y="0"/>
                  </a:cubicBezTo>
                  <a:lnTo>
                    <a:pt x="11689842" y="0"/>
                  </a:lnTo>
                  <a:lnTo>
                    <a:pt x="11689842" y="6350"/>
                  </a:lnTo>
                  <a:lnTo>
                    <a:pt x="11689842" y="0"/>
                  </a:lnTo>
                  <a:cubicBezTo>
                    <a:pt x="12196191" y="0"/>
                    <a:pt x="12606655" y="409067"/>
                    <a:pt x="12606655" y="913638"/>
                  </a:cubicBezTo>
                  <a:lnTo>
                    <a:pt x="12600305" y="913638"/>
                  </a:lnTo>
                  <a:lnTo>
                    <a:pt x="12606655" y="913638"/>
                  </a:lnTo>
                  <a:lnTo>
                    <a:pt x="12606655" y="1907540"/>
                  </a:lnTo>
                  <a:lnTo>
                    <a:pt x="12600305" y="1907540"/>
                  </a:lnTo>
                  <a:lnTo>
                    <a:pt x="12606655" y="1907540"/>
                  </a:lnTo>
                  <a:cubicBezTo>
                    <a:pt x="12606655" y="2412111"/>
                    <a:pt x="12196191" y="2821178"/>
                    <a:pt x="11689842" y="2821178"/>
                  </a:cubicBezTo>
                  <a:lnTo>
                    <a:pt x="11689842" y="2814828"/>
                  </a:lnTo>
                  <a:lnTo>
                    <a:pt x="11689842" y="2821178"/>
                  </a:lnTo>
                  <a:lnTo>
                    <a:pt x="916813" y="2821178"/>
                  </a:lnTo>
                  <a:lnTo>
                    <a:pt x="916813" y="2814828"/>
                  </a:lnTo>
                  <a:lnTo>
                    <a:pt x="916813" y="2821178"/>
                  </a:lnTo>
                  <a:cubicBezTo>
                    <a:pt x="410464" y="2821178"/>
                    <a:pt x="0" y="2412111"/>
                    <a:pt x="0" y="1907540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1907540"/>
                  </a:lnTo>
                  <a:lnTo>
                    <a:pt x="6350" y="1907540"/>
                  </a:lnTo>
                  <a:lnTo>
                    <a:pt x="12700" y="1907540"/>
                  </a:lnTo>
                  <a:cubicBezTo>
                    <a:pt x="12700" y="2405126"/>
                    <a:pt x="417449" y="2808478"/>
                    <a:pt x="916813" y="2808478"/>
                  </a:cubicBezTo>
                  <a:lnTo>
                    <a:pt x="11689842" y="2808478"/>
                  </a:lnTo>
                  <a:cubicBezTo>
                    <a:pt x="12189206" y="2808478"/>
                    <a:pt x="12593955" y="2405126"/>
                    <a:pt x="12593955" y="1907540"/>
                  </a:cubicBezTo>
                  <a:lnTo>
                    <a:pt x="12593955" y="913638"/>
                  </a:lnTo>
                  <a:cubicBezTo>
                    <a:pt x="12594082" y="416052"/>
                    <a:pt x="12189206" y="12700"/>
                    <a:pt x="11689842" y="12700"/>
                  </a:cubicBezTo>
                  <a:lnTo>
                    <a:pt x="916813" y="12700"/>
                  </a:lnTo>
                  <a:lnTo>
                    <a:pt x="916813" y="6350"/>
                  </a:lnTo>
                  <a:lnTo>
                    <a:pt x="916813" y="12700"/>
                  </a:lnTo>
                  <a:cubicBezTo>
                    <a:pt x="417449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143280" y="7120979"/>
            <a:ext cx="593362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Diretrizes para Competência Crítica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3280" y="7638752"/>
            <a:ext cx="885944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Proposta para empoderar usuários a compreender e questionar o uso de dados.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63241" y="9599935"/>
            <a:ext cx="235902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835325"/>
            <a:chOff x="0" y="0"/>
            <a:chExt cx="24384000" cy="378043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780409"/>
            </a:xfrm>
            <a:custGeom>
              <a:avLst/>
              <a:gdLst/>
              <a:ahLst/>
              <a:cxnLst/>
              <a:rect r="r" b="b" t="t" l="l"/>
              <a:pathLst>
                <a:path h="37804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780409"/>
                  </a:lnTo>
                  <a:lnTo>
                    <a:pt x="0" y="3780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" r="0" b="-5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749427"/>
            <a:ext cx="8706296" cy="72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Contribuições e Impactos Sociais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5" y="4812655"/>
            <a:ext cx="916781" cy="1370410"/>
            <a:chOff x="0" y="0"/>
            <a:chExt cx="1222375" cy="18272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209675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09675">
                  <a:moveTo>
                    <a:pt x="0" y="606933"/>
                  </a:moveTo>
                  <a:cubicBezTo>
                    <a:pt x="0" y="271780"/>
                    <a:pt x="270764" y="0"/>
                    <a:pt x="604774" y="0"/>
                  </a:cubicBezTo>
                  <a:cubicBezTo>
                    <a:pt x="938784" y="0"/>
                    <a:pt x="1209675" y="271780"/>
                    <a:pt x="1209675" y="606933"/>
                  </a:cubicBezTo>
                  <a:lnTo>
                    <a:pt x="1209675" y="1207516"/>
                  </a:lnTo>
                  <a:cubicBezTo>
                    <a:pt x="1209675" y="1542669"/>
                    <a:pt x="938911" y="1814449"/>
                    <a:pt x="604901" y="1814449"/>
                  </a:cubicBezTo>
                  <a:cubicBezTo>
                    <a:pt x="270891" y="1814449"/>
                    <a:pt x="0" y="1542796"/>
                    <a:pt x="0" y="1207516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2375" cy="1827149"/>
            </a:xfrm>
            <a:custGeom>
              <a:avLst/>
              <a:gdLst/>
              <a:ahLst/>
              <a:cxnLst/>
              <a:rect r="r" b="b" t="t" l="l"/>
              <a:pathLst>
                <a:path h="1827149" w="1222375">
                  <a:moveTo>
                    <a:pt x="0" y="613283"/>
                  </a:moveTo>
                  <a:cubicBezTo>
                    <a:pt x="0" y="274574"/>
                    <a:pt x="273558" y="0"/>
                    <a:pt x="611124" y="0"/>
                  </a:cubicBezTo>
                  <a:cubicBezTo>
                    <a:pt x="612394" y="0"/>
                    <a:pt x="613537" y="381"/>
                    <a:pt x="614553" y="1016"/>
                  </a:cubicBezTo>
                  <a:lnTo>
                    <a:pt x="611124" y="6350"/>
                  </a:lnTo>
                  <a:lnTo>
                    <a:pt x="611124" y="0"/>
                  </a:lnTo>
                  <a:lnTo>
                    <a:pt x="611124" y="6350"/>
                  </a:lnTo>
                  <a:lnTo>
                    <a:pt x="611124" y="0"/>
                  </a:lnTo>
                  <a:cubicBezTo>
                    <a:pt x="948817" y="0"/>
                    <a:pt x="1222375" y="274574"/>
                    <a:pt x="1222375" y="613283"/>
                  </a:cubicBezTo>
                  <a:lnTo>
                    <a:pt x="1222375" y="1213866"/>
                  </a:lnTo>
                  <a:lnTo>
                    <a:pt x="1216025" y="1213866"/>
                  </a:lnTo>
                  <a:lnTo>
                    <a:pt x="1222375" y="1213866"/>
                  </a:lnTo>
                  <a:cubicBezTo>
                    <a:pt x="1222375" y="1552575"/>
                    <a:pt x="948817" y="1827149"/>
                    <a:pt x="611251" y="1827149"/>
                  </a:cubicBezTo>
                  <a:lnTo>
                    <a:pt x="611251" y="1820799"/>
                  </a:lnTo>
                  <a:lnTo>
                    <a:pt x="611251" y="1827149"/>
                  </a:lnTo>
                  <a:cubicBezTo>
                    <a:pt x="273558" y="1827276"/>
                    <a:pt x="0" y="1552575"/>
                    <a:pt x="0" y="1213866"/>
                  </a:cubicBezTo>
                  <a:lnTo>
                    <a:pt x="0" y="613283"/>
                  </a:lnTo>
                  <a:lnTo>
                    <a:pt x="6350" y="613283"/>
                  </a:lnTo>
                  <a:lnTo>
                    <a:pt x="0" y="613283"/>
                  </a:lnTo>
                  <a:moveTo>
                    <a:pt x="12700" y="613283"/>
                  </a:moveTo>
                  <a:lnTo>
                    <a:pt x="12700" y="1213866"/>
                  </a:lnTo>
                  <a:lnTo>
                    <a:pt x="6350" y="1213866"/>
                  </a:lnTo>
                  <a:lnTo>
                    <a:pt x="12700" y="1213866"/>
                  </a:lnTo>
                  <a:cubicBezTo>
                    <a:pt x="12700" y="1545590"/>
                    <a:pt x="280670" y="1814449"/>
                    <a:pt x="611124" y="1814449"/>
                  </a:cubicBezTo>
                  <a:cubicBezTo>
                    <a:pt x="941578" y="1814449"/>
                    <a:pt x="1209675" y="1545590"/>
                    <a:pt x="1209675" y="1213866"/>
                  </a:cubicBezTo>
                  <a:lnTo>
                    <a:pt x="1209675" y="613283"/>
                  </a:lnTo>
                  <a:lnTo>
                    <a:pt x="1216025" y="613283"/>
                  </a:lnTo>
                  <a:lnTo>
                    <a:pt x="1209675" y="613283"/>
                  </a:lnTo>
                  <a:cubicBezTo>
                    <a:pt x="1209675" y="281559"/>
                    <a:pt x="941705" y="12700"/>
                    <a:pt x="611251" y="12700"/>
                  </a:cubicBezTo>
                  <a:cubicBezTo>
                    <a:pt x="609981" y="12700"/>
                    <a:pt x="608838" y="12319"/>
                    <a:pt x="607822" y="11684"/>
                  </a:cubicBezTo>
                  <a:lnTo>
                    <a:pt x="611124" y="6350"/>
                  </a:lnTo>
                  <a:lnTo>
                    <a:pt x="611124" y="12700"/>
                  </a:lnTo>
                  <a:cubicBezTo>
                    <a:pt x="280670" y="12700"/>
                    <a:pt x="12700" y="281559"/>
                    <a:pt x="12700" y="613283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87208" y="5288086"/>
            <a:ext cx="120015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6307" y="5034706"/>
            <a:ext cx="2835325" cy="36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Conscientização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6307" y="5439370"/>
            <a:ext cx="15169455" cy="45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Contribuir para a conscientização dos usuários sobre o uso responsável de seus dados.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7475" y="6400354"/>
            <a:ext cx="916781" cy="1370410"/>
            <a:chOff x="0" y="0"/>
            <a:chExt cx="1222375" cy="18272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209675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09675">
                  <a:moveTo>
                    <a:pt x="0" y="606933"/>
                  </a:moveTo>
                  <a:cubicBezTo>
                    <a:pt x="0" y="271780"/>
                    <a:pt x="270764" y="0"/>
                    <a:pt x="604774" y="0"/>
                  </a:cubicBezTo>
                  <a:cubicBezTo>
                    <a:pt x="938784" y="0"/>
                    <a:pt x="1209675" y="271780"/>
                    <a:pt x="1209675" y="606933"/>
                  </a:cubicBezTo>
                  <a:lnTo>
                    <a:pt x="1209675" y="1207516"/>
                  </a:lnTo>
                  <a:cubicBezTo>
                    <a:pt x="1209675" y="1542669"/>
                    <a:pt x="938911" y="1814449"/>
                    <a:pt x="604901" y="1814449"/>
                  </a:cubicBezTo>
                  <a:cubicBezTo>
                    <a:pt x="270891" y="1814449"/>
                    <a:pt x="0" y="1542796"/>
                    <a:pt x="0" y="1207516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22375" cy="1827149"/>
            </a:xfrm>
            <a:custGeom>
              <a:avLst/>
              <a:gdLst/>
              <a:ahLst/>
              <a:cxnLst/>
              <a:rect r="r" b="b" t="t" l="l"/>
              <a:pathLst>
                <a:path h="1827149" w="1222375">
                  <a:moveTo>
                    <a:pt x="0" y="613283"/>
                  </a:moveTo>
                  <a:cubicBezTo>
                    <a:pt x="0" y="274574"/>
                    <a:pt x="273558" y="0"/>
                    <a:pt x="611124" y="0"/>
                  </a:cubicBezTo>
                  <a:cubicBezTo>
                    <a:pt x="612394" y="0"/>
                    <a:pt x="613537" y="381"/>
                    <a:pt x="614553" y="1016"/>
                  </a:cubicBezTo>
                  <a:lnTo>
                    <a:pt x="611124" y="6350"/>
                  </a:lnTo>
                  <a:lnTo>
                    <a:pt x="611124" y="0"/>
                  </a:lnTo>
                  <a:lnTo>
                    <a:pt x="611124" y="6350"/>
                  </a:lnTo>
                  <a:lnTo>
                    <a:pt x="611124" y="0"/>
                  </a:lnTo>
                  <a:cubicBezTo>
                    <a:pt x="948817" y="0"/>
                    <a:pt x="1222375" y="274574"/>
                    <a:pt x="1222375" y="613283"/>
                  </a:cubicBezTo>
                  <a:lnTo>
                    <a:pt x="1222375" y="1213866"/>
                  </a:lnTo>
                  <a:lnTo>
                    <a:pt x="1216025" y="1213866"/>
                  </a:lnTo>
                  <a:lnTo>
                    <a:pt x="1222375" y="1213866"/>
                  </a:lnTo>
                  <a:cubicBezTo>
                    <a:pt x="1222375" y="1552575"/>
                    <a:pt x="948817" y="1827149"/>
                    <a:pt x="611251" y="1827149"/>
                  </a:cubicBezTo>
                  <a:lnTo>
                    <a:pt x="611251" y="1820799"/>
                  </a:lnTo>
                  <a:lnTo>
                    <a:pt x="611251" y="1827149"/>
                  </a:lnTo>
                  <a:cubicBezTo>
                    <a:pt x="273558" y="1827276"/>
                    <a:pt x="0" y="1552575"/>
                    <a:pt x="0" y="1213866"/>
                  </a:cubicBezTo>
                  <a:lnTo>
                    <a:pt x="0" y="613283"/>
                  </a:lnTo>
                  <a:lnTo>
                    <a:pt x="6350" y="613283"/>
                  </a:lnTo>
                  <a:lnTo>
                    <a:pt x="0" y="613283"/>
                  </a:lnTo>
                  <a:moveTo>
                    <a:pt x="12700" y="613283"/>
                  </a:moveTo>
                  <a:lnTo>
                    <a:pt x="12700" y="1213866"/>
                  </a:lnTo>
                  <a:lnTo>
                    <a:pt x="6350" y="1213866"/>
                  </a:lnTo>
                  <a:lnTo>
                    <a:pt x="12700" y="1213866"/>
                  </a:lnTo>
                  <a:cubicBezTo>
                    <a:pt x="12700" y="1545590"/>
                    <a:pt x="280670" y="1814449"/>
                    <a:pt x="611124" y="1814449"/>
                  </a:cubicBezTo>
                  <a:cubicBezTo>
                    <a:pt x="941578" y="1814449"/>
                    <a:pt x="1209675" y="1545590"/>
                    <a:pt x="1209675" y="1213866"/>
                  </a:cubicBezTo>
                  <a:lnTo>
                    <a:pt x="1209675" y="613283"/>
                  </a:lnTo>
                  <a:lnTo>
                    <a:pt x="1216025" y="613283"/>
                  </a:lnTo>
                  <a:lnTo>
                    <a:pt x="1209675" y="613283"/>
                  </a:lnTo>
                  <a:cubicBezTo>
                    <a:pt x="1209675" y="281559"/>
                    <a:pt x="941705" y="12700"/>
                    <a:pt x="611251" y="12700"/>
                  </a:cubicBezTo>
                  <a:cubicBezTo>
                    <a:pt x="609981" y="12700"/>
                    <a:pt x="608838" y="12319"/>
                    <a:pt x="607822" y="11684"/>
                  </a:cubicBezTo>
                  <a:lnTo>
                    <a:pt x="611124" y="6350"/>
                  </a:lnTo>
                  <a:lnTo>
                    <a:pt x="611124" y="12700"/>
                  </a:lnTo>
                  <a:cubicBezTo>
                    <a:pt x="280670" y="12700"/>
                    <a:pt x="12700" y="281559"/>
                    <a:pt x="12700" y="613283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31724" y="6875785"/>
            <a:ext cx="211931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6307" y="6622405"/>
            <a:ext cx="2835325" cy="36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Postura Crítica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26307" y="7027069"/>
            <a:ext cx="15169455" cy="45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Reforçar a necessidade de uma postura crítica diante do Big Data, defendendo liberdades individuais.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475" y="7988052"/>
            <a:ext cx="916781" cy="1370410"/>
            <a:chOff x="0" y="0"/>
            <a:chExt cx="1222375" cy="18272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1209675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09675">
                  <a:moveTo>
                    <a:pt x="0" y="606933"/>
                  </a:moveTo>
                  <a:cubicBezTo>
                    <a:pt x="0" y="271780"/>
                    <a:pt x="270764" y="0"/>
                    <a:pt x="604774" y="0"/>
                  </a:cubicBezTo>
                  <a:cubicBezTo>
                    <a:pt x="938784" y="0"/>
                    <a:pt x="1209675" y="271780"/>
                    <a:pt x="1209675" y="606933"/>
                  </a:cubicBezTo>
                  <a:lnTo>
                    <a:pt x="1209675" y="1207516"/>
                  </a:lnTo>
                  <a:cubicBezTo>
                    <a:pt x="1209675" y="1542669"/>
                    <a:pt x="938911" y="1814449"/>
                    <a:pt x="604901" y="1814449"/>
                  </a:cubicBezTo>
                  <a:cubicBezTo>
                    <a:pt x="270891" y="1814449"/>
                    <a:pt x="0" y="1542796"/>
                    <a:pt x="0" y="1207516"/>
                  </a:cubicBezTo>
                  <a:close/>
                </a:path>
              </a:pathLst>
            </a:custGeom>
            <a:solidFill>
              <a:srgbClr val="D2D9F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2375" cy="1827149"/>
            </a:xfrm>
            <a:custGeom>
              <a:avLst/>
              <a:gdLst/>
              <a:ahLst/>
              <a:cxnLst/>
              <a:rect r="r" b="b" t="t" l="l"/>
              <a:pathLst>
                <a:path h="1827149" w="1222375">
                  <a:moveTo>
                    <a:pt x="0" y="613283"/>
                  </a:moveTo>
                  <a:cubicBezTo>
                    <a:pt x="0" y="274574"/>
                    <a:pt x="273558" y="0"/>
                    <a:pt x="611124" y="0"/>
                  </a:cubicBezTo>
                  <a:cubicBezTo>
                    <a:pt x="612394" y="0"/>
                    <a:pt x="613537" y="381"/>
                    <a:pt x="614553" y="1016"/>
                  </a:cubicBezTo>
                  <a:lnTo>
                    <a:pt x="611124" y="6350"/>
                  </a:lnTo>
                  <a:lnTo>
                    <a:pt x="611124" y="0"/>
                  </a:lnTo>
                  <a:lnTo>
                    <a:pt x="611124" y="6350"/>
                  </a:lnTo>
                  <a:lnTo>
                    <a:pt x="611124" y="0"/>
                  </a:lnTo>
                  <a:cubicBezTo>
                    <a:pt x="948817" y="0"/>
                    <a:pt x="1222375" y="274574"/>
                    <a:pt x="1222375" y="613283"/>
                  </a:cubicBezTo>
                  <a:lnTo>
                    <a:pt x="1222375" y="1213866"/>
                  </a:lnTo>
                  <a:lnTo>
                    <a:pt x="1216025" y="1213866"/>
                  </a:lnTo>
                  <a:lnTo>
                    <a:pt x="1222375" y="1213866"/>
                  </a:lnTo>
                  <a:cubicBezTo>
                    <a:pt x="1222375" y="1552575"/>
                    <a:pt x="948817" y="1827149"/>
                    <a:pt x="611251" y="1827149"/>
                  </a:cubicBezTo>
                  <a:lnTo>
                    <a:pt x="611251" y="1820799"/>
                  </a:lnTo>
                  <a:lnTo>
                    <a:pt x="611251" y="1827149"/>
                  </a:lnTo>
                  <a:cubicBezTo>
                    <a:pt x="273558" y="1827276"/>
                    <a:pt x="0" y="1552575"/>
                    <a:pt x="0" y="1213866"/>
                  </a:cubicBezTo>
                  <a:lnTo>
                    <a:pt x="0" y="613283"/>
                  </a:lnTo>
                  <a:lnTo>
                    <a:pt x="6350" y="613283"/>
                  </a:lnTo>
                  <a:lnTo>
                    <a:pt x="0" y="613283"/>
                  </a:lnTo>
                  <a:moveTo>
                    <a:pt x="12700" y="613283"/>
                  </a:moveTo>
                  <a:lnTo>
                    <a:pt x="12700" y="1213866"/>
                  </a:lnTo>
                  <a:lnTo>
                    <a:pt x="6350" y="1213866"/>
                  </a:lnTo>
                  <a:lnTo>
                    <a:pt x="12700" y="1213866"/>
                  </a:lnTo>
                  <a:cubicBezTo>
                    <a:pt x="12700" y="1545590"/>
                    <a:pt x="280670" y="1814449"/>
                    <a:pt x="611124" y="1814449"/>
                  </a:cubicBezTo>
                  <a:cubicBezTo>
                    <a:pt x="941578" y="1814449"/>
                    <a:pt x="1209675" y="1545590"/>
                    <a:pt x="1209675" y="1213866"/>
                  </a:cubicBezTo>
                  <a:lnTo>
                    <a:pt x="1209675" y="613283"/>
                  </a:lnTo>
                  <a:lnTo>
                    <a:pt x="1216025" y="613283"/>
                  </a:lnTo>
                  <a:lnTo>
                    <a:pt x="1209675" y="613283"/>
                  </a:lnTo>
                  <a:cubicBezTo>
                    <a:pt x="1209675" y="281559"/>
                    <a:pt x="941705" y="12700"/>
                    <a:pt x="611251" y="12700"/>
                  </a:cubicBezTo>
                  <a:cubicBezTo>
                    <a:pt x="609981" y="12700"/>
                    <a:pt x="608838" y="12319"/>
                    <a:pt x="607822" y="11684"/>
                  </a:cubicBezTo>
                  <a:lnTo>
                    <a:pt x="611124" y="6350"/>
                  </a:lnTo>
                  <a:lnTo>
                    <a:pt x="611124" y="12700"/>
                  </a:lnTo>
                  <a:cubicBezTo>
                    <a:pt x="280670" y="12700"/>
                    <a:pt x="12700" y="281559"/>
                    <a:pt x="12700" y="613283"/>
                  </a:cubicBezTo>
                  <a:close/>
                </a:path>
              </a:pathLst>
            </a:custGeom>
            <a:solidFill>
              <a:srgbClr val="B8BF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31724" y="8499267"/>
            <a:ext cx="22828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6307" y="8210104"/>
            <a:ext cx="2835325" cy="36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Políticas Públicas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26307" y="8614767"/>
            <a:ext cx="15169455" cy="45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Auxiliar na formulação de políticas que tornem o uso do Big Data mais ético e transparente.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863241" y="9599935"/>
            <a:ext cx="216694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127523"/>
            <a:ext cx="3929221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Referencias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469" y="2557383"/>
            <a:ext cx="7805886" cy="670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DAVIS, Kord; 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PATTERSON, Doug. Ethics of Big Data: balancing risk and innovation. Sebastopol: O'Reilly Media, 2012.</a:t>
            </a:r>
          </a:p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BELONI, Aneli; BEZERRA, Arthur Coelho. Competência crítica em informação e ética em Big Data. In: Encontro Nacional de Pesquisa em Ciência da Informação, 20., 2019.</a:t>
            </a:r>
          </a:p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DIAS, Guilherme Ataíde; VIEIRA, Américo Augusto Nogueira. Big Data: questões éticas e legais emergentes. Ciência da Informação, v. 42, n. 2, 2013.</a:t>
            </a:r>
          </a:p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FERREIRA, L. B.; ROCKEMBACH, M.; KREBS, L. M. Reflexões conceituais e éticas sobre Big Data. In: Encontro Nacional de Pesquisa em Ciência da Informação, 18., 2017.</a:t>
            </a:r>
          </a:p>
          <a:p>
            <a:pPr algn="l">
              <a:lnSpc>
                <a:spcPts val="356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720761" y="9557192"/>
            <a:ext cx="397034" cy="56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000">
                <a:solidFill>
                  <a:srgbClr val="545454"/>
                </a:solidFill>
                <a:latin typeface="Corben"/>
                <a:ea typeface="Corben"/>
                <a:cs typeface="Corben"/>
                <a:sym typeface="Corben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756346" y="3358961"/>
            <a:ext cx="9983887" cy="260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48"/>
              </a:lnSpc>
            </a:pPr>
            <a:r>
              <a:rPr lang="en-US" sz="16716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DAG6E_GGLSU</dc:identifier>
  <dcterms:modified xsi:type="dcterms:W3CDTF">2011-08-01T06:04:30Z</dcterms:modified>
  <cp:revision>1</cp:revision>
  <dc:title>Etica-no-Big-Data.pptx</dc:title>
</cp:coreProperties>
</file>